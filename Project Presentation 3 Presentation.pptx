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9" r:id="rId3"/>
    <p:sldId id="260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2145"/>
    <a:srgbClr val="000066"/>
    <a:srgbClr val="5C25CB"/>
    <a:srgbClr val="435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>
        <p:scale>
          <a:sx n="89" d="100"/>
          <a:sy n="89" d="100"/>
        </p:scale>
        <p:origin x="350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Bar Graph showing cost of different</a:t>
            </a:r>
            <a:r>
              <a:rPr lang="en-US" b="1" baseline="0" dirty="0"/>
              <a:t> items and  resources.</a:t>
            </a:r>
            <a:endParaRPr lang="en-US" b="1" dirty="0"/>
          </a:p>
        </c:rich>
      </c:tx>
      <c:layout>
        <c:manualLayout>
          <c:xMode val="edge"/>
          <c:yMode val="edge"/>
          <c:x val="0.1532475049388396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237683440042617"/>
          <c:y val="0.11857233351655748"/>
          <c:w val="0.68881945835044411"/>
          <c:h val="0.7746443822997441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(R)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App Development</c:v>
                </c:pt>
                <c:pt idx="1">
                  <c:v>Marketing &amp; Flyers</c:v>
                </c:pt>
                <c:pt idx="2">
                  <c:v>Testing &amp; Maintenance</c:v>
                </c:pt>
                <c:pt idx="3">
                  <c:v>Transport</c:v>
                </c:pt>
                <c:pt idx="4">
                  <c:v>Logo &amp; Branding</c:v>
                </c:pt>
                <c:pt idx="5">
                  <c:v>Internet &amp; Data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8000</c:v>
                </c:pt>
                <c:pt idx="1">
                  <c:v>1800</c:v>
                </c:pt>
                <c:pt idx="2">
                  <c:v>2000</c:v>
                </c:pt>
                <c:pt idx="3">
                  <c:v>900</c:v>
                </c:pt>
                <c:pt idx="4">
                  <c:v>1000</c:v>
                </c:pt>
                <c:pt idx="5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7C-4F76-89E0-34FC1F7D1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99233440"/>
        <c:axId val="899234400"/>
      </c:barChart>
      <c:catAx>
        <c:axId val="8992334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dirty="0"/>
                  <a:t>Item</a:t>
                </a:r>
              </a:p>
            </c:rich>
          </c:tx>
          <c:layout>
            <c:manualLayout>
              <c:xMode val="edge"/>
              <c:yMode val="edge"/>
              <c:x val="1.2806266398575378E-2"/>
              <c:y val="8.329869791505120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9234400"/>
        <c:crosses val="autoZero"/>
        <c:auto val="1"/>
        <c:lblAlgn val="ctr"/>
        <c:lblOffset val="100"/>
        <c:noMultiLvlLbl val="0"/>
      </c:catAx>
      <c:valAx>
        <c:axId val="899234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dirty="0"/>
                  <a:t>Cost</a:t>
                </a:r>
                <a:r>
                  <a:rPr lang="en-ZA" baseline="0" dirty="0"/>
                  <a:t> (R)</a:t>
                </a:r>
                <a:endParaRPr lang="en-Z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92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268B5-238D-4FF0-8A67-1EE267E47E4A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E60695-F9B6-453E-8602-67F3202B429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3070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60695-F9B6-453E-8602-67F3202B429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E2D6-4EFF-8C96-BD6E-824083B7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5CDE6-9270-F31E-9F21-8599E2209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652C9-7EA7-A9BF-70DE-410FBBBEC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C252-AB8F-936D-A803-768424830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60695-F9B6-453E-8602-67F3202B4291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0136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2021-8EAA-03BE-A4FC-A2E84B6A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FDEDE-5B79-45B0-C450-4CF9C6B3C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0F57E-E628-7CBA-9380-14C462A6A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E0102-DAB8-FEB8-CA63-D1E9B9AFB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60695-F9B6-453E-8602-67F3202B4291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5710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ED16-9084-D8D8-4AE7-B8C5D94F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7EA4E-F0CF-854B-741E-D0299B423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D26B6-35BF-0BC4-832E-552B7D28A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62DA1-51C0-0ABF-CBF1-B7E90CB96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60695-F9B6-453E-8602-67F3202B4291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9996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645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453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820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80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691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486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959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53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23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432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0618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659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5449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345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318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199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439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1827673-293F-42B4-A9D5-2BC5B8E50566}" type="datetimeFigureOut">
              <a:rPr lang="en-ZA" smtClean="0"/>
              <a:t>2026/07/21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7E387BE-4012-489B-9D5C-9EF052B4A2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896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xETbhrqF4Ou7xrWk3oIhev/PFP-Design?node-id=0-1&amp;t=M88xVWRANfbpLcZh-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B798AD-5139-B31D-7FDA-BBB30740D641}"/>
              </a:ext>
            </a:extLst>
          </p:cNvPr>
          <p:cNvSpPr txBox="1"/>
          <p:nvPr/>
        </p:nvSpPr>
        <p:spPr>
          <a:xfrm>
            <a:off x="4596935" y="1473963"/>
            <a:ext cx="73567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00B0F0"/>
                </a:solidFill>
                <a:latin typeface="Georgia" panose="02040502050405020303" pitchFamily="18" charset="0"/>
              </a:rPr>
              <a:t>Belhar Community Job Market Place  </a:t>
            </a:r>
            <a:endParaRPr lang="en-ZA" sz="54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A0655D-B2D4-363F-AEF2-9A8FD3F4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4058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7DE2DD-3614-DFA3-7D21-E014765FF717}"/>
              </a:ext>
            </a:extLst>
          </p:cNvPr>
          <p:cNvSpPr txBox="1"/>
          <p:nvPr/>
        </p:nvSpPr>
        <p:spPr>
          <a:xfrm>
            <a:off x="4705001" y="1271779"/>
            <a:ext cx="5594466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CAPE PENINSULIA UNIVERSITY OF TECHNOLOGY – PFP 362S – GROUP 8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55D52-1ADC-87FF-1026-0A33ACE61049}"/>
              </a:ext>
            </a:extLst>
          </p:cNvPr>
          <p:cNvSpPr txBox="1"/>
          <p:nvPr/>
        </p:nvSpPr>
        <p:spPr>
          <a:xfrm>
            <a:off x="4655122" y="3527547"/>
            <a:ext cx="6716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trusted local platform connecting Belhar residents with nearby workers – quickly, safely, and affordably. 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BA1772-C93B-C860-CEDC-35BD0723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249" y="4856550"/>
            <a:ext cx="1138849" cy="107667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34D187-2922-2177-4B1D-586973C6851D}"/>
              </a:ext>
            </a:extLst>
          </p:cNvPr>
          <p:cNvSpPr txBox="1"/>
          <p:nvPr/>
        </p:nvSpPr>
        <p:spPr>
          <a:xfrm>
            <a:off x="5877098" y="4780702"/>
            <a:ext cx="6151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rgbClr val="00B0F0"/>
                </a:solidFill>
                <a:latin typeface="Georgia" panose="02040502050405020303" pitchFamily="18" charset="0"/>
              </a:rPr>
              <a:t>Connectly</a:t>
            </a:r>
            <a:endParaRPr lang="en-ZA" sz="72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F199-6CB6-343E-D2C8-CDEE33E8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39" y="1304879"/>
            <a:ext cx="1500500" cy="357447"/>
          </a:xfrm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JOURNEY</a:t>
            </a:r>
            <a:endParaRPr lang="en-ZA" sz="1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434C-A902-77F4-0D7F-8B50F3D8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939" y="2972449"/>
            <a:ext cx="3284912" cy="909595"/>
          </a:xfr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Initial Idea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Lacked a clear profit model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19397-1171-B460-EFE6-CF5F70F0ADED}"/>
              </a:ext>
            </a:extLst>
          </p:cNvPr>
          <p:cNvSpPr txBox="1"/>
          <p:nvPr/>
        </p:nvSpPr>
        <p:spPr>
          <a:xfrm>
            <a:off x="282633" y="1581821"/>
            <a:ext cx="8212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From Idea to Opportunity 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FF05D-E478-BD58-73A8-E0428502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83" y="0"/>
            <a:ext cx="4627418" cy="6858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FF7D769-CC20-94D9-5979-73ECA7063E1A}"/>
              </a:ext>
            </a:extLst>
          </p:cNvPr>
          <p:cNvSpPr txBox="1">
            <a:spLocks/>
          </p:cNvSpPr>
          <p:nvPr/>
        </p:nvSpPr>
        <p:spPr>
          <a:xfrm>
            <a:off x="3690851" y="2972449"/>
            <a:ext cx="3549533" cy="9095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Consultation Feedback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 our pivot and focus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778BFD-2335-30BB-7E0A-1C76AC474F20}"/>
              </a:ext>
            </a:extLst>
          </p:cNvPr>
          <p:cNvSpPr txBox="1">
            <a:spLocks/>
          </p:cNvSpPr>
          <p:nvPr/>
        </p:nvSpPr>
        <p:spPr>
          <a:xfrm>
            <a:off x="405939" y="3882043"/>
            <a:ext cx="6834445" cy="9095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Community Job Marketplace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Practical, viable, community-driven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95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9E3E4F-C230-E4D2-90A6-B20121CA71F3}"/>
              </a:ext>
            </a:extLst>
          </p:cNvPr>
          <p:cNvSpPr txBox="1"/>
          <p:nvPr/>
        </p:nvSpPr>
        <p:spPr>
          <a:xfrm>
            <a:off x="623452" y="568805"/>
            <a:ext cx="2468882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MARKETING STRATEGY - WHO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327ED-AB4E-FFBB-154B-A86844F6A03C}"/>
              </a:ext>
            </a:extLst>
          </p:cNvPr>
          <p:cNvSpPr txBox="1"/>
          <p:nvPr/>
        </p:nvSpPr>
        <p:spPr>
          <a:xfrm>
            <a:off x="546563" y="707305"/>
            <a:ext cx="4158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Who We Serve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F8A0DF0-9893-69E2-22A9-E8FDA012A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08" y="1896002"/>
            <a:ext cx="4840085" cy="462948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latin typeface="Georgia" panose="02040502050405020303" pitchFamily="18" charset="0"/>
              </a:rPr>
              <a:t>Our Customer 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Homeowners, parents, elderly residents, small business owners in Belhar 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latin typeface="Georgia" panose="02040502050405020303" pitchFamily="18" charset="0"/>
              </a:rPr>
              <a:t>Customer Persona  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25 - 50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 R8,000 – R30,000/month 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Busy professionals needing trusted local help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point: unreliable workers, lack of trust, high unemployment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Z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EF2A60-6D05-F399-C8E3-981CD7C16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2" y="1653274"/>
            <a:ext cx="5669283" cy="44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C3D89B-1722-20C5-E0E0-51FEEFFCA4F6}"/>
              </a:ext>
            </a:extLst>
          </p:cNvPr>
          <p:cNvSpPr txBox="1"/>
          <p:nvPr/>
        </p:nvSpPr>
        <p:spPr>
          <a:xfrm>
            <a:off x="623452" y="568805"/>
            <a:ext cx="2468882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MARKETING STRATEGY - WHO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2E1D09-2BCB-C270-CCB6-18E663689B46}"/>
              </a:ext>
            </a:extLst>
          </p:cNvPr>
          <p:cNvSpPr txBox="1"/>
          <p:nvPr/>
        </p:nvSpPr>
        <p:spPr>
          <a:xfrm>
            <a:off x="538248" y="707304"/>
            <a:ext cx="1103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What Customers Are Really Buying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CAD6CE-D95D-10E2-064D-4E3CB5D7A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1" y="3308466"/>
            <a:ext cx="3690853" cy="1745671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Functional Benefit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Posts jobs instantly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Workers apply immediately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messaging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31271F-BCFF-D347-A47A-8B83EB573B08}"/>
              </a:ext>
            </a:extLst>
          </p:cNvPr>
          <p:cNvSpPr txBox="1">
            <a:spLocks/>
          </p:cNvSpPr>
          <p:nvPr/>
        </p:nvSpPr>
        <p:spPr>
          <a:xfrm>
            <a:off x="4314304" y="3308467"/>
            <a:ext cx="3690853" cy="174567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Emotional Benefit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of mind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Community trust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stress finding help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0C3C21-4B15-BB63-4898-EB08E0EF1496}"/>
              </a:ext>
            </a:extLst>
          </p:cNvPr>
          <p:cNvSpPr txBox="1">
            <a:spLocks/>
          </p:cNvSpPr>
          <p:nvPr/>
        </p:nvSpPr>
        <p:spPr>
          <a:xfrm>
            <a:off x="8005157" y="3308466"/>
            <a:ext cx="3690853" cy="174567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Financial Benefit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Affordable vs agencies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Workers reduce transport costs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27" name="Picture 26" descr="Cross functional ">
            <a:extLst>
              <a:ext uri="{FF2B5EF4-FFF2-40B4-BE49-F238E27FC236}">
                <a16:creationId xmlns:a16="http://schemas.microsoft.com/office/drawing/2014/main" id="{CA45AF6E-92D4-299B-4595-8BB686B3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1" y="2477469"/>
            <a:ext cx="873729" cy="830997"/>
          </a:xfrm>
          <a:prstGeom prst="rect">
            <a:avLst/>
          </a:prstGeom>
        </p:spPr>
      </p:pic>
      <p:pic>
        <p:nvPicPr>
          <p:cNvPr id="28" name="Picture 27" descr="Thumb up ">
            <a:extLst>
              <a:ext uri="{FF2B5EF4-FFF2-40B4-BE49-F238E27FC236}">
                <a16:creationId xmlns:a16="http://schemas.microsoft.com/office/drawing/2014/main" id="{9DAA1F1B-37F4-BD3A-92D7-B1684B315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304" y="2477469"/>
            <a:ext cx="873729" cy="830998"/>
          </a:xfrm>
          <a:prstGeom prst="rect">
            <a:avLst/>
          </a:prstGeom>
        </p:spPr>
      </p:pic>
      <p:pic>
        <p:nvPicPr>
          <p:cNvPr id="29" name="Picture 28" descr="Financial ">
            <a:extLst>
              <a:ext uri="{FF2B5EF4-FFF2-40B4-BE49-F238E27FC236}">
                <a16:creationId xmlns:a16="http://schemas.microsoft.com/office/drawing/2014/main" id="{0667D5A1-55DF-23CA-3E5F-BFD502520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157" y="2539812"/>
            <a:ext cx="873729" cy="83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7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CFC1-2F64-F979-83CF-EC0BCDD8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CC8F55-96D1-7A64-ADA7-F46565D7205F}"/>
              </a:ext>
            </a:extLst>
          </p:cNvPr>
          <p:cNvSpPr txBox="1"/>
          <p:nvPr/>
        </p:nvSpPr>
        <p:spPr>
          <a:xfrm>
            <a:off x="623452" y="568805"/>
            <a:ext cx="3516286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MARKETING STRATEGY – WHERE &amp; WHEN 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49D47-6291-6EE7-AE5F-720D895D32B4}"/>
              </a:ext>
            </a:extLst>
          </p:cNvPr>
          <p:cNvSpPr txBox="1"/>
          <p:nvPr/>
        </p:nvSpPr>
        <p:spPr>
          <a:xfrm>
            <a:off x="538248" y="707304"/>
            <a:ext cx="1103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Reaching Our Community 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AF54D2-E887-B0EC-DEB0-1F178251D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1" y="1751162"/>
            <a:ext cx="5768723" cy="4907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B0F0"/>
                </a:solidFill>
                <a:latin typeface="Georgia" panose="02040502050405020303" pitchFamily="18" charset="0"/>
              </a:rPr>
              <a:t>Where They Are </a:t>
            </a:r>
          </a:p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WhatsApp, Instagram, Facebook, TikTok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Shopping centers, taxi ranks, schools, churches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500" dirty="0">
                <a:solidFill>
                  <a:srgbClr val="00B0F0"/>
                </a:solidFill>
                <a:latin typeface="Georgia" panose="02040502050405020303" pitchFamily="18" charset="0"/>
              </a:rPr>
              <a:t>Our 5 Channels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WhatsApp community groups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Facebook ads &amp; pages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Instagram &amp; TikTok content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Flyers at community hubs</a:t>
            </a: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9B2F7-972B-80BC-9EFE-C62194E3D4D9}"/>
              </a:ext>
            </a:extLst>
          </p:cNvPr>
          <p:cNvSpPr txBox="1"/>
          <p:nvPr/>
        </p:nvSpPr>
        <p:spPr>
          <a:xfrm>
            <a:off x="6392174" y="1751162"/>
            <a:ext cx="5799826" cy="1308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B0F0"/>
                </a:solidFill>
                <a:latin typeface="Georgia" panose="02040502050405020303" pitchFamily="18" charset="0"/>
              </a:rPr>
              <a:t>When They Buy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Pay Days: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month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Seasonal: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Holidays, spring cleaning, school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Daily: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Weekdays, weekends, month-end</a:t>
            </a:r>
          </a:p>
        </p:txBody>
      </p:sp>
    </p:spTree>
    <p:extLst>
      <p:ext uri="{BB962C8B-B14F-4D97-AF65-F5344CB8AC3E}">
        <p14:creationId xmlns:p14="http://schemas.microsoft.com/office/powerpoint/2010/main" val="1293452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F0CD-2613-40D6-2728-201D2F2F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8E3D0D-344A-1121-CBA4-1BF302DD3D1A}"/>
              </a:ext>
            </a:extLst>
          </p:cNvPr>
          <p:cNvSpPr txBox="1"/>
          <p:nvPr/>
        </p:nvSpPr>
        <p:spPr>
          <a:xfrm>
            <a:off x="623452" y="568805"/>
            <a:ext cx="3516286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MARKETING STRATEGY – WHY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539B6-697F-037A-619B-CFE2F41FEC17}"/>
              </a:ext>
            </a:extLst>
          </p:cNvPr>
          <p:cNvSpPr txBox="1"/>
          <p:nvPr/>
        </p:nvSpPr>
        <p:spPr>
          <a:xfrm>
            <a:off x="538248" y="707304"/>
            <a:ext cx="1103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Why Choose Us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804F4C-9B7B-1FE4-3FB9-2ECFE1EB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576" y="2152428"/>
            <a:ext cx="3284912" cy="1125099"/>
          </a:xfr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Hyper-Local Focus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exclusively for Belhar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B74FC5-5526-88F7-F4CB-CC9E0E3267FF}"/>
              </a:ext>
            </a:extLst>
          </p:cNvPr>
          <p:cNvSpPr txBox="1">
            <a:spLocks/>
          </p:cNvSpPr>
          <p:nvPr/>
        </p:nvSpPr>
        <p:spPr>
          <a:xfrm>
            <a:off x="4184378" y="2152429"/>
            <a:ext cx="3417860" cy="11250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Direct Messaging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Safe, private communication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F2DCA2-3B2D-35FA-6F92-C780A572EFBA}"/>
              </a:ext>
            </a:extLst>
          </p:cNvPr>
          <p:cNvSpPr txBox="1">
            <a:spLocks/>
          </p:cNvSpPr>
          <p:nvPr/>
        </p:nvSpPr>
        <p:spPr>
          <a:xfrm>
            <a:off x="620576" y="3577998"/>
            <a:ext cx="6937022" cy="11250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Community Impact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real jobs for residents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F5EC39-47D9-7DAB-3900-76591ADC2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128" y="3631721"/>
            <a:ext cx="4310872" cy="3222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E610EE-9632-05B9-2252-4AAA6AAA0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128" y="1"/>
            <a:ext cx="4310872" cy="3631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4222CC-4280-E146-9314-D08B124FC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75" y="5003567"/>
            <a:ext cx="1138849" cy="10766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52261C-28D2-0E09-3AE7-D251FDCE0DB0}"/>
              </a:ext>
            </a:extLst>
          </p:cNvPr>
          <p:cNvSpPr txBox="1"/>
          <p:nvPr/>
        </p:nvSpPr>
        <p:spPr>
          <a:xfrm>
            <a:off x="1759424" y="4950367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rgbClr val="00B0F0"/>
                </a:solidFill>
                <a:latin typeface="Georgia" panose="02040502050405020303" pitchFamily="18" charset="0"/>
              </a:rPr>
              <a:t>Connectly</a:t>
            </a:r>
            <a:endParaRPr lang="en-ZA" sz="72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63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24B9-CB03-4ED6-9269-33C5DE90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03B0-7DD1-6702-F668-C1FD73B8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38" y="1304879"/>
            <a:ext cx="2535669" cy="357447"/>
          </a:xfrm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COMPETITIVE LANDSCAPE</a:t>
            </a:r>
            <a:endParaRPr lang="en-ZA" sz="1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D8F6F-5042-6BE2-6B85-0B0411954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2835507"/>
            <a:ext cx="6176017" cy="1049409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options fall short–too broad, too expensive, or too unreliable. Our platform fills this gap with a dedicated, trusted, local solution. 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95790-0EC0-19EF-3B45-AA42E6F9EBA2}"/>
              </a:ext>
            </a:extLst>
          </p:cNvPr>
          <p:cNvSpPr txBox="1"/>
          <p:nvPr/>
        </p:nvSpPr>
        <p:spPr>
          <a:xfrm>
            <a:off x="282633" y="1581821"/>
            <a:ext cx="8212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How We Compare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741AD-0A78-9291-C369-9988D06B5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004" y="0"/>
            <a:ext cx="540099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3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FDE6-8C83-B1EC-E63A-32A845FC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823AD4-ADD6-6BF8-0329-647793D480A1}"/>
              </a:ext>
            </a:extLst>
          </p:cNvPr>
          <p:cNvSpPr txBox="1"/>
          <p:nvPr/>
        </p:nvSpPr>
        <p:spPr>
          <a:xfrm>
            <a:off x="623452" y="568805"/>
            <a:ext cx="1162216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FEASABILITY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9B02B-7327-D306-A2B3-3CD7429C933F}"/>
              </a:ext>
            </a:extLst>
          </p:cNvPr>
          <p:cNvSpPr txBox="1"/>
          <p:nvPr/>
        </p:nvSpPr>
        <p:spPr>
          <a:xfrm>
            <a:off x="538248" y="707304"/>
            <a:ext cx="1103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Startup Costs &amp; Resources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0DF3DB2-F5E7-A4C1-84AF-40E088A5B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6280345"/>
              </p:ext>
            </p:extLst>
          </p:nvPr>
        </p:nvGraphicFramePr>
        <p:xfrm>
          <a:off x="623452" y="1538301"/>
          <a:ext cx="6467461" cy="5155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51402AE-C349-4384-511F-5EBA9CE87E2C}"/>
              </a:ext>
            </a:extLst>
          </p:cNvPr>
          <p:cNvSpPr txBox="1"/>
          <p:nvPr/>
        </p:nvSpPr>
        <p:spPr>
          <a:xfrm>
            <a:off x="7176117" y="1533988"/>
            <a:ext cx="4633445" cy="21390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B0F0"/>
                </a:solidFill>
                <a:latin typeface="Georgia" panose="02040502050405020303" pitchFamily="18" charset="0"/>
              </a:rPr>
              <a:t>Resources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Skills: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 development, marketing, customer support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People: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Developers, marketing team,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Tools: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IDEs, database, social media platforms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6BA9781-F3D7-6DC4-A7E7-B50E21F04DFE}"/>
              </a:ext>
            </a:extLst>
          </p:cNvPr>
          <p:cNvSpPr txBox="1">
            <a:spLocks/>
          </p:cNvSpPr>
          <p:nvPr/>
        </p:nvSpPr>
        <p:spPr>
          <a:xfrm>
            <a:off x="7280695" y="3916392"/>
            <a:ext cx="4287851" cy="8108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Startup Cost: R14,000 - low barrier to entry</a:t>
            </a:r>
          </a:p>
        </p:txBody>
      </p:sp>
    </p:spTree>
    <p:extLst>
      <p:ext uri="{BB962C8B-B14F-4D97-AF65-F5344CB8AC3E}">
        <p14:creationId xmlns:p14="http://schemas.microsoft.com/office/powerpoint/2010/main" val="37675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A4BF-F34A-1029-5ACB-445A70D5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977A17-E5DC-2159-E032-A545B8B229EC}"/>
              </a:ext>
            </a:extLst>
          </p:cNvPr>
          <p:cNvSpPr txBox="1"/>
          <p:nvPr/>
        </p:nvSpPr>
        <p:spPr>
          <a:xfrm>
            <a:off x="623452" y="568805"/>
            <a:ext cx="1472768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RISK &amp; VIABILITY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6F8E6-8CB7-F2E1-ED14-F6CF8806C2C8}"/>
              </a:ext>
            </a:extLst>
          </p:cNvPr>
          <p:cNvSpPr txBox="1"/>
          <p:nvPr/>
        </p:nvSpPr>
        <p:spPr>
          <a:xfrm>
            <a:off x="538248" y="707304"/>
            <a:ext cx="1103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Risks We’ve Identified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1468D48-CEAE-8E8F-5F5D-68A547A8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18" y="2152428"/>
            <a:ext cx="3321171" cy="1410281"/>
          </a:xfrm>
          <a:solidFill>
            <a:srgbClr val="352145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Marketing Risk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may stick with Facebook over downloading a new app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9E1B-68DA-92F9-0787-EAB5D4A13815}"/>
              </a:ext>
            </a:extLst>
          </p:cNvPr>
          <p:cNvSpPr txBox="1">
            <a:spLocks/>
          </p:cNvSpPr>
          <p:nvPr/>
        </p:nvSpPr>
        <p:spPr>
          <a:xfrm>
            <a:off x="4339087" y="2152427"/>
            <a:ext cx="3677732" cy="1410281"/>
          </a:xfrm>
          <a:prstGeom prst="rect">
            <a:avLst/>
          </a:prstGeom>
          <a:solidFill>
            <a:srgbClr val="352145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Financial Risk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Early-stage profitability may be slow to materialize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EFB180-A880-6E6E-9342-4ACBB17B942B}"/>
              </a:ext>
            </a:extLst>
          </p:cNvPr>
          <p:cNvSpPr txBox="1">
            <a:spLocks/>
          </p:cNvSpPr>
          <p:nvPr/>
        </p:nvSpPr>
        <p:spPr>
          <a:xfrm>
            <a:off x="8310116" y="2152427"/>
            <a:ext cx="3548336" cy="1410281"/>
          </a:xfrm>
          <a:prstGeom prst="rect">
            <a:avLst/>
          </a:prstGeom>
          <a:solidFill>
            <a:srgbClr val="352145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Operational Risk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Fake posts or dishonest employers could erode platform trust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E22233-8528-4108-C04F-F4A3BC6E33C5}"/>
              </a:ext>
            </a:extLst>
          </p:cNvPr>
          <p:cNvSpPr txBox="1">
            <a:spLocks/>
          </p:cNvSpPr>
          <p:nvPr/>
        </p:nvSpPr>
        <p:spPr>
          <a:xfrm>
            <a:off x="623452" y="2152427"/>
            <a:ext cx="101165" cy="1410281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0E08CC-71FB-9CB1-981B-DE2013E6EB41}"/>
              </a:ext>
            </a:extLst>
          </p:cNvPr>
          <p:cNvSpPr txBox="1">
            <a:spLocks/>
          </p:cNvSpPr>
          <p:nvPr/>
        </p:nvSpPr>
        <p:spPr>
          <a:xfrm>
            <a:off x="4237921" y="2152427"/>
            <a:ext cx="101165" cy="1410281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B3A1EC-5B0D-838C-BAA1-314B7A919A0D}"/>
              </a:ext>
            </a:extLst>
          </p:cNvPr>
          <p:cNvSpPr txBox="1">
            <a:spLocks/>
          </p:cNvSpPr>
          <p:nvPr/>
        </p:nvSpPr>
        <p:spPr>
          <a:xfrm>
            <a:off x="8208951" y="2152427"/>
            <a:ext cx="101165" cy="1410281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81BB33-6663-6E3A-D917-DD5CE8B3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849" y="2216988"/>
            <a:ext cx="379562" cy="29329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8DC7C1-D977-A85D-C053-03FFB82F6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021" y="2216988"/>
            <a:ext cx="379562" cy="25879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3A7F69-11B9-A766-A732-09773A633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0257" y="2216987"/>
            <a:ext cx="500861" cy="258793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E08263-B977-B15E-AB1B-52AEF68CB152}"/>
              </a:ext>
            </a:extLst>
          </p:cNvPr>
          <p:cNvSpPr txBox="1">
            <a:spLocks/>
          </p:cNvSpPr>
          <p:nvPr/>
        </p:nvSpPr>
        <p:spPr>
          <a:xfrm>
            <a:off x="623452" y="4418374"/>
            <a:ext cx="11235000" cy="9127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Ultimately: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smartphone usage, strong community demand, and low startup costs make this venture viable.</a:t>
            </a:r>
          </a:p>
        </p:txBody>
      </p:sp>
    </p:spTree>
    <p:extLst>
      <p:ext uri="{BB962C8B-B14F-4D97-AF65-F5344CB8AC3E}">
        <p14:creationId xmlns:p14="http://schemas.microsoft.com/office/powerpoint/2010/main" val="260937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1824-FFB5-7CFE-5464-8C7C955B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2A5BC4-CE02-3C22-5F32-D1AE9942FA3E}"/>
              </a:ext>
            </a:extLst>
          </p:cNvPr>
          <p:cNvSpPr txBox="1"/>
          <p:nvPr/>
        </p:nvSpPr>
        <p:spPr>
          <a:xfrm>
            <a:off x="623452" y="568805"/>
            <a:ext cx="1135972" cy="276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31968C-7B75-998F-00E6-0BC83F25D359}"/>
              </a:ext>
            </a:extLst>
          </p:cNvPr>
          <p:cNvSpPr txBox="1"/>
          <p:nvPr/>
        </p:nvSpPr>
        <p:spPr>
          <a:xfrm>
            <a:off x="538249" y="707304"/>
            <a:ext cx="44823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  <a:latin typeface="Georgia" panose="02040502050405020303" pitchFamily="18" charset="0"/>
              </a:rPr>
              <a:t>Our MVP Plan</a:t>
            </a:r>
            <a:endParaRPr lang="en-ZA" sz="48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56D40C-D4B2-ED18-2C13-1CFB5141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434" y="1851388"/>
            <a:ext cx="6616987" cy="975031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Test Interest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WhatsApp flyers, social media pages, Google forms</a:t>
            </a:r>
          </a:p>
          <a:p>
            <a:pPr marL="0" indent="0"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0D0F40-96A8-26F3-447B-EF9E7AF78D73}"/>
              </a:ext>
            </a:extLst>
          </p:cNvPr>
          <p:cNvSpPr txBox="1">
            <a:spLocks/>
          </p:cNvSpPr>
          <p:nvPr/>
        </p:nvSpPr>
        <p:spPr>
          <a:xfrm>
            <a:off x="1191434" y="3243947"/>
            <a:ext cx="6616987" cy="9750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Measure Success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– 25 Sign-ups ; 10 job posts; 5 – 10 worker connections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E2A1A75-2D43-FA15-446D-DCD31A40F41B}"/>
              </a:ext>
            </a:extLst>
          </p:cNvPr>
          <p:cNvSpPr txBox="1">
            <a:spLocks/>
          </p:cNvSpPr>
          <p:nvPr/>
        </p:nvSpPr>
        <p:spPr>
          <a:xfrm>
            <a:off x="1191434" y="4636506"/>
            <a:ext cx="6616987" cy="9750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solidFill>
                  <a:schemeClr val="tx1"/>
                </a:solidFill>
                <a:latin typeface="Georgia" panose="02040502050405020303" pitchFamily="18" charset="0"/>
              </a:rPr>
              <a:t>Build &amp; Launch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app development based on validated demand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E32E32-7D39-1B25-68F0-216682F45536}"/>
              </a:ext>
            </a:extLst>
          </p:cNvPr>
          <p:cNvSpPr/>
          <p:nvPr/>
        </p:nvSpPr>
        <p:spPr>
          <a:xfrm>
            <a:off x="623452" y="1851388"/>
            <a:ext cx="495678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Z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A954BC-BC26-0C35-3D7C-3C399553A7D4}"/>
              </a:ext>
            </a:extLst>
          </p:cNvPr>
          <p:cNvSpPr/>
          <p:nvPr/>
        </p:nvSpPr>
        <p:spPr>
          <a:xfrm>
            <a:off x="623452" y="3243947"/>
            <a:ext cx="495678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Z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F57370-FD56-1600-9102-B7ADDC9D8E5A}"/>
              </a:ext>
            </a:extLst>
          </p:cNvPr>
          <p:cNvSpPr/>
          <p:nvPr/>
        </p:nvSpPr>
        <p:spPr>
          <a:xfrm>
            <a:off x="623452" y="4636506"/>
            <a:ext cx="495678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Z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A3B58F9-1094-1AEF-80A9-3D3204918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3" y="5753820"/>
            <a:ext cx="6700373" cy="975031"/>
          </a:xfrm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Our Figma Prototype</a:t>
            </a:r>
            <a:b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https://www.figma.com/design/xETbhrqF4Ou7xrWk3oIhev/PFP-Design?node-id=0-1&amp;t=M88xVWRANfbpLcZh-1</a:t>
            </a:r>
            <a:b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sz="1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C5153AC-DCA3-8D03-0D30-1829F43B9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725" y="0"/>
            <a:ext cx="4311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6135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343</TotalTime>
  <Words>485</Words>
  <Application>Microsoft Office PowerPoint</Application>
  <PresentationFormat>Widescreen</PresentationFormat>
  <Paragraphs>102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Corbel</vt:lpstr>
      <vt:lpstr>Georgia</vt:lpstr>
      <vt:lpstr>Depth</vt:lpstr>
      <vt:lpstr>PowerPoint Presentation</vt:lpstr>
      <vt:lpstr>OUR JOURNEY</vt:lpstr>
      <vt:lpstr>PowerPoint Presentation</vt:lpstr>
      <vt:lpstr>PowerPoint Presentation</vt:lpstr>
      <vt:lpstr>PowerPoint Presentation</vt:lpstr>
      <vt:lpstr>PowerPoint Presentation</vt:lpstr>
      <vt:lpstr>COMPETITIVE LANDSCAPE</vt:lpstr>
      <vt:lpstr>PowerPoint Presentation</vt:lpstr>
      <vt:lpstr>PowerPoint Presentation</vt:lpstr>
      <vt:lpstr>View Our Figma Prototype https://www.figma.com/design/xETbhrqF4Ou7xrWk3oIhev/PFP-Design?node-id=0-1&amp;t=M88xVWRANfbpLcZh-1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Maghdie Petersen</dc:creator>
  <cp:lastModifiedBy>Maghdie Petersen</cp:lastModifiedBy>
  <cp:revision>78</cp:revision>
  <dcterms:created xsi:type="dcterms:W3CDTF">2026-07-21T14:19:50Z</dcterms:created>
  <dcterms:modified xsi:type="dcterms:W3CDTF">2026-07-21T20:03:49Z</dcterms:modified>
</cp:coreProperties>
</file>